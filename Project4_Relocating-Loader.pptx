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Override1.xml" ContentType="application/vnd.openxmlformats-officedocument.themeOverride+xml"/>
  <Override PartName="/ppt/notesSlides/notesSlide1.xml" ContentType="application/vnd.openxmlformats-officedocument.presentationml.notesSlide+xml"/>
  <Override PartName="/ppt/theme/themeOverride2.xml" ContentType="application/vnd.openxmlformats-officedocument.themeOverr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14"/>
  </p:notesMasterIdLst>
  <p:sldIdLst>
    <p:sldId id="278" r:id="rId5"/>
    <p:sldId id="279" r:id="rId6"/>
    <p:sldId id="280" r:id="rId7"/>
    <p:sldId id="281" r:id="rId8"/>
    <p:sldId id="282" r:id="rId9"/>
    <p:sldId id="286" r:id="rId10"/>
    <p:sldId id="284" r:id="rId11"/>
    <p:sldId id="283" r:id="rId12"/>
    <p:sldId id="285"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990" autoAdjust="0"/>
    <p:restoredTop sz="62319" autoAdjust="0"/>
  </p:normalViewPr>
  <p:slideViewPr>
    <p:cSldViewPr snapToGrid="0">
      <p:cViewPr varScale="1">
        <p:scale>
          <a:sx n="69" d="100"/>
          <a:sy n="69" d="100"/>
        </p:scale>
        <p:origin x="1962" y="78"/>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presProps" Target="pres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FD01546-198A-4195-BCF8-F0FF54C90E5E}" type="datetimeFigureOut">
              <a:rPr lang="en-US" smtClean="0"/>
              <a:t>12/2/2025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6DE88F-1F85-4A27-9D34-D74A50E7B0DA}" type="slidenum">
              <a:rPr lang="en-US" smtClean="0"/>
              <a:t>‹#›</a:t>
            </a:fld>
            <a:endParaRPr lang="en-US" dirty="0"/>
          </a:p>
        </p:txBody>
      </p:sp>
    </p:spTree>
    <p:extLst>
      <p:ext uri="{BB962C8B-B14F-4D97-AF65-F5344CB8AC3E}">
        <p14:creationId xmlns:p14="http://schemas.microsoft.com/office/powerpoint/2010/main" val="37300918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lang="en-US" dirty="0"/>
              <a:t>*** FEEDBACK FROM PROF: Actually, introduce yourself ****</a:t>
            </a:r>
          </a:p>
          <a:p>
            <a:endParaRPr lang="en-US" dirty="0"/>
          </a:p>
          <a:p>
            <a:endParaRPr lang="en-US" dirty="0"/>
          </a:p>
          <a:p>
            <a:r>
              <a:rPr lang="en-US" dirty="0"/>
              <a:t>“I am ___, and I am ___, and I am ___ and we will be presenting our Project on Option 2, Option A – The Relocating Loader.”</a:t>
            </a:r>
          </a:p>
          <a:p>
            <a:endParaRPr lang="en-US" dirty="0"/>
          </a:p>
          <a:p>
            <a:r>
              <a:rPr lang="en-US" dirty="0"/>
              <a:t>OR</a:t>
            </a:r>
          </a:p>
          <a:p>
            <a:endParaRPr lang="en-US" dirty="0"/>
          </a:p>
          <a:p>
            <a:r>
              <a:rPr lang="en-US" dirty="0"/>
              <a:t>“Hello everyone, we’ll be presenting our Relocating Loader which is the Relocating Loader (Option 2A).</a:t>
            </a:r>
          </a:p>
          <a:p>
            <a:r>
              <a:rPr lang="en-US" dirty="0"/>
              <a:t>I’m ___, and my group members are ___ and ___.”</a:t>
            </a:r>
            <a:endParaRPr dirty="0"/>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Here’s a quick look at our Table of Contents:</a:t>
            </a:r>
          </a:p>
          <a:p>
            <a:r>
              <a:rPr lang="en-US" dirty="0"/>
              <a:t>We’ll start with a summary of what our project is,</a:t>
            </a:r>
          </a:p>
          <a:p>
            <a:r>
              <a:rPr lang="en-US" dirty="0"/>
              <a:t>Then our design choices and implementation, </a:t>
            </a:r>
          </a:p>
          <a:p>
            <a:r>
              <a:rPr lang="en-US" dirty="0"/>
              <a:t>The main challenges we experienced,</a:t>
            </a:r>
          </a:p>
          <a:p>
            <a:r>
              <a:rPr lang="en-US" dirty="0"/>
              <a:t>How we tested our program, </a:t>
            </a:r>
          </a:p>
          <a:p>
            <a:r>
              <a:rPr lang="en-US" dirty="0"/>
              <a:t>Our solutions and approach to the challenges we encountered,</a:t>
            </a:r>
          </a:p>
          <a:p>
            <a:r>
              <a:rPr lang="en-US" dirty="0"/>
              <a:t>And of course, lastly, we will demonstrate our program. </a:t>
            </a:r>
            <a:endParaRPr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3AEA074-24A7-4657-AE02-A51F68EA6AA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578475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lang="en-US" dirty="0"/>
              <a:t>For this project, the goal here is to build a relocating loader for SIC. The program takes three inputs:</a:t>
            </a:r>
          </a:p>
          <a:p>
            <a:r>
              <a:rPr lang="en-US" dirty="0"/>
              <a:t>The object file name, a new load address in hex, and the machine type, SIC or SICXE. Then it prints the relocated T records and the relocated E record to stdout. </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a:t>This is the </a:t>
            </a:r>
            <a:r>
              <a:rPr lang="en-US" dirty="0"/>
              <a:t>basic </a:t>
            </a:r>
            <a:r>
              <a:rPr dirty="0"/>
              <a:t>flow of our loader.</a:t>
            </a:r>
          </a:p>
          <a:p>
            <a:r>
              <a:rPr dirty="0"/>
              <a:t>We take in the object </a:t>
            </a:r>
            <a:r>
              <a:rPr lang="en-US" dirty="0"/>
              <a:t>file,</a:t>
            </a:r>
            <a:r>
              <a:rPr dirty="0"/>
              <a:t> and the new load address the user wants.</a:t>
            </a:r>
          </a:p>
          <a:p>
            <a:r>
              <a:rPr dirty="0"/>
              <a:t>From there, we figure out the difference between the old start and the new start.</a:t>
            </a:r>
          </a:p>
          <a:p>
            <a:r>
              <a:rPr dirty="0"/>
              <a:t>Then we apply that shift so the program can run from the new location, and we print the relocated output.</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lang="en-US" dirty="0"/>
              <a:t>As for the </a:t>
            </a:r>
            <a:r>
              <a:rPr dirty="0"/>
              <a:t>challenges</a:t>
            </a:r>
            <a:r>
              <a:rPr lang="en-US" dirty="0"/>
              <a:t>, there were several.</a:t>
            </a:r>
          </a:p>
          <a:p>
            <a:r>
              <a:rPr lang="en-US" dirty="0"/>
              <a:t>A notable challenge was that each M record points to a specific address and length, and we had to line that up to the exact spot inside the object code bytes, if we’re off by even a tiny amount, we end up modifying the wrong part of the program.</a:t>
            </a:r>
          </a:p>
          <a:p>
            <a:r>
              <a:rPr lang="en-US" dirty="0"/>
              <a:t>Additionally, address relocation is highly sensitive, even a tiny address mistake can shift something to the wrong place and make the program behave incorrectly or crash. </a:t>
            </a:r>
          </a:p>
          <a:p>
            <a:r>
              <a:rPr lang="en-US" dirty="0"/>
              <a:t>Then, we had to avoid breaking instruction behavior, because not every bit in an instruction is purely an address. So, changing the wrong bits can accidentally change what the instruction does, not just where it points.</a:t>
            </a:r>
          </a:p>
          <a:p>
            <a:endParaRPr lang="en-US" dirty="0"/>
          </a:p>
          <a:p>
            <a:r>
              <a:rPr lang="en-US" dirty="0"/>
              <a:t>*** all 3 challenges stem from the course PowerPoint “Loaders – Absolute &amp; Relocating”, specifically slide 13,17,18 *** </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lang="en-US" dirty="0"/>
              <a:t>Here are a few more noteworthy challenges that we encountered:</a:t>
            </a:r>
          </a:p>
          <a:p>
            <a:r>
              <a:rPr lang="en-US" dirty="0"/>
              <a:t>First, SIC and SICXE don’t behave the same way, so the relocation rules aren’t identical, and mixing that up can lead to incorrect results.</a:t>
            </a:r>
          </a:p>
          <a:p>
            <a:r>
              <a:rPr lang="en-US" dirty="0"/>
              <a:t>Furthermore, the object program can be split across multiple records, so it’s easy to make mistakes when you’re tracking what belongs where and missing even one piece can mess up the final output. </a:t>
            </a:r>
          </a:p>
          <a:p>
            <a:r>
              <a:rPr lang="en-US" dirty="0"/>
              <a:t>Finally, some instruction fields affect behavior, not just addresses, so touching the wrong bits can change what the instruction does instead of just relocating it.</a:t>
            </a:r>
          </a:p>
          <a:p>
            <a:endParaRPr lang="en-US" dirty="0"/>
          </a:p>
          <a:p>
            <a:r>
              <a:rPr lang="en-US" dirty="0"/>
              <a:t>*** these 3 challenges stem from:</a:t>
            </a:r>
          </a:p>
          <a:p>
            <a:r>
              <a:rPr lang="en-US" dirty="0"/>
              <a:t>1 = from Linking and Relocation, slides 13-14</a:t>
            </a:r>
          </a:p>
          <a:p>
            <a:r>
              <a:rPr lang="en-US" dirty="0"/>
              <a:t>2 = from Loaders – Absolute &amp; Relocating, slides 7-9</a:t>
            </a:r>
          </a:p>
          <a:p>
            <a:r>
              <a:rPr lang="en-US" dirty="0"/>
              <a:t>3 = from PC-Relative Addressing, slides 4-7</a:t>
            </a:r>
          </a:p>
          <a:p>
            <a:r>
              <a:rPr lang="en-US" dirty="0"/>
              <a:t>**************************************************</a:t>
            </a:r>
          </a:p>
          <a:p>
            <a:endParaRPr lang="en-US" dirty="0"/>
          </a:p>
          <a:p>
            <a:r>
              <a:rPr lang="en-US" dirty="0"/>
              <a:t>Code lines 66-71 support bullet point #2</a:t>
            </a:r>
          </a:p>
          <a:p>
            <a:r>
              <a:rPr lang="en-US" dirty="0"/>
              <a:t>This shows the loader has to process the object program one record line at a time, and a small mistake in how you categorize a line (H/T/M/E) can throw off everything that comes after.</a:t>
            </a:r>
            <a:endParaRPr dirty="0"/>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lang="en-US" dirty="0"/>
              <a:t>We then wanted to ensure our program functions as intended, so this was our testing process</a:t>
            </a:r>
            <a:r>
              <a:rPr dirty="0"/>
              <a:t>.</a:t>
            </a:r>
          </a:p>
          <a:p>
            <a:r>
              <a:rPr dirty="0"/>
              <a:t>We start with basic input </a:t>
            </a:r>
            <a:r>
              <a:rPr lang="en-US" dirty="0"/>
              <a:t>checks,</a:t>
            </a:r>
            <a:r>
              <a:rPr dirty="0"/>
              <a:t> so it fails cleanly if the user runs it wrong.</a:t>
            </a:r>
          </a:p>
          <a:p>
            <a:r>
              <a:rPr dirty="0"/>
              <a:t>Then we do a no-shift test where the new address equals the old one</a:t>
            </a:r>
            <a:r>
              <a:rPr lang="en-US" dirty="0"/>
              <a:t>, </a:t>
            </a:r>
            <a:r>
              <a:rPr dirty="0"/>
              <a:t>the output should match.</a:t>
            </a:r>
          </a:p>
          <a:p>
            <a:r>
              <a:rPr dirty="0"/>
              <a:t>After that, we use a different load address and verify everything that depends on location shifts consistently.</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lang="en-US" dirty="0"/>
              <a:t>Here is a short and sweet summary of how we solved some of those challenges:</a:t>
            </a:r>
          </a:p>
          <a:p>
            <a:r>
              <a:rPr lang="en-US" dirty="0"/>
              <a:t>We start with how we treat relocation as a controlled, step by step update so we don’t accidentally change unrelated parts of the object program. </a:t>
            </a:r>
          </a:p>
          <a:p>
            <a:r>
              <a:rPr lang="en-US" dirty="0"/>
              <a:t>Then, we update the T and E record addresses and then use the M records to identify the specific fields that need to be adjusted, so we don’t accidentally change unrelated parts of an instruction.</a:t>
            </a:r>
          </a:p>
          <a:p>
            <a:r>
              <a:rPr lang="en-US" dirty="0"/>
              <a:t>Lastly, we validate the result by running the same object file at multiple load addresses and comparing the outputs, so we can confirm the relocation is consistent and the program still behaves the same after being moved.</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lang="en-US" dirty="0"/>
              <a:t>Before we transition into the live demonstration, are there any questions? </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77348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8D38747-4367-4BD2-8D51-C97E202738E2}" type="datetime1">
              <a:rPr lang="en-US" smtClean="0"/>
              <a:t>12/2/2025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1507467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3C55A3C-5767-4844-A0A3-83778C2E5409}" type="datetime1">
              <a:rPr lang="en-US" smtClean="0"/>
              <a:t>12/2/2025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1548654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763439"/>
            <a:ext cx="9590550" cy="133349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AE507A8-A5CF-4D38-AB86-7EDDA87A85D4}" type="datetime1">
              <a:rPr lang="en-US" smtClean="0"/>
              <a:t>12/2/2025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846401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10353762" cy="126187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2076450"/>
            <a:ext cx="4856841" cy="362267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0716" y="2076451"/>
            <a:ext cx="4856841" cy="3622672"/>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DFCD27C-8599-43EF-BA1D-14DDC1946E06}" type="datetime1">
              <a:rPr lang="en-US" smtClean="0"/>
              <a:t>12/2/2025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882058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a:extLst>
              <a:ext uri="{FF2B5EF4-FFF2-40B4-BE49-F238E27FC236}">
                <a16:creationId xmlns:a16="http://schemas.microsoft.com/office/drawing/2014/main" id="{37B721FF-D609-4D98-9D19-CF75AA8A54F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29200" cy="4099959"/>
          </a:xfrm>
          <a:prstGeom prst="rect">
            <a:avLst/>
          </a:prstGeom>
        </p:spPr>
      </p:pic>
      <p:pic>
        <p:nvPicPr>
          <p:cNvPr id="21" name="Picture 20" descr="Slate-V2-HD-compPhotoInset.png">
            <a:extLst>
              <a:ext uri="{FF2B5EF4-FFF2-40B4-BE49-F238E27FC236}">
                <a16:creationId xmlns:a16="http://schemas.microsoft.com/office/drawing/2014/main" id="{073936BD-C868-433F-8E84-D6DD8E640E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38357" y="1734506"/>
            <a:ext cx="5029200" cy="4099959"/>
          </a:xfrm>
          <a:prstGeom prst="rect">
            <a:avLst/>
          </a:prstGeom>
        </p:spPr>
      </p:pic>
      <p:sp>
        <p:nvSpPr>
          <p:cNvPr id="2" name="Title 1"/>
          <p:cNvSpPr>
            <a:spLocks noGrp="1"/>
          </p:cNvSpPr>
          <p:nvPr>
            <p:ph type="title"/>
          </p:nvPr>
        </p:nvSpPr>
        <p:spPr>
          <a:xfrm>
            <a:off x="913795" y="609600"/>
            <a:ext cx="10353762" cy="97045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46013" y="1855153"/>
            <a:ext cx="4764764" cy="69249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46013" y="2702103"/>
            <a:ext cx="4764764" cy="304353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3166" y="1855152"/>
            <a:ext cx="4779582" cy="692495"/>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363167" y="2702103"/>
            <a:ext cx="4779581" cy="304353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9343D99-809A-49C0-96E5-4250D0B498EE}" type="datetime1">
              <a:rPr lang="en-US" smtClean="0"/>
              <a:t>12/2/2025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2351203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143DE9B-B678-4EFB-BB7D-A4370204A0B0}" type="datetime1">
              <a:rPr lang="en-US" smtClean="0"/>
              <a:t>12/2/2025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290940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8812DA-F765-4142-A6A3-A8ED7235E082}" type="datetime1">
              <a:rPr lang="en-US" smtClean="0"/>
              <a:t>12/2/2025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6551302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8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080001"/>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673351"/>
            <a:ext cx="3706889" cy="3016250"/>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E0277FD-7DE6-41D4-930D-AC99F5AFE54E}" type="datetime1">
              <a:rPr lang="en-US" smtClean="0"/>
              <a:t>12/2/2025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7935569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a:extLst>
              <a:ext uri="{FF2B5EF4-FFF2-40B4-BE49-F238E27FC236}">
                <a16:creationId xmlns:a16="http://schemas.microsoft.com/office/drawing/2014/main" id="{4D06E496-ACBA-4063-B4A1-C5C484EE5A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763701"/>
            <a:ext cx="5707899" cy="1675559"/>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73698" y="2679699"/>
            <a:ext cx="4588094" cy="3135695"/>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EA15526-7079-4B7B-987C-1B5FAE11A0FF}" type="datetime1">
              <a:rPr lang="en-US" smtClean="0"/>
              <a:t>12/2/2025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530567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a:extLst>
              <a:ext uri="{FF2B5EF4-FFF2-40B4-BE49-F238E27FC236}">
                <a16:creationId xmlns:a16="http://schemas.microsoft.com/office/drawing/2014/main" id="{CE39118B-B3AD-4BD4-BA22-DEFF4E76CE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247728"/>
            <a:ext cx="10353762" cy="543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F1B079-7EF0-44EE-B798-BCC497C9F3B2}" type="datetime1">
              <a:rPr lang="en-US" smtClean="0"/>
              <a:t>12/2/2025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0095022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normAutofit/>
          </a:bodyPr>
          <a:lstStyle>
            <a:lvl1pPr>
              <a:defRPr sz="40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8FF70A8-1D13-4657-95F0-A9EA54967B8D}" type="datetime1">
              <a:rPr lang="en-US" smtClean="0"/>
              <a:t>12/2/2025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0538504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1EB90AC-71BD-4C7F-8ACA-7B3F18292E63}" type="datetime1">
              <a:rPr lang="en-US" smtClean="0"/>
              <a:t>12/2/2025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
        <p:nvSpPr>
          <p:cNvPr id="11" name="TextBox 10">
            <a:extLst>
              <a:ext uri="{FF2B5EF4-FFF2-40B4-BE49-F238E27FC236}">
                <a16:creationId xmlns:a16="http://schemas.microsoft.com/office/drawing/2014/main" id="{223F0D53-0705-41B7-8554-09D21E7807F9}"/>
              </a:ext>
            </a:extLst>
          </p:cNvPr>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a:extLst>
              <a:ext uri="{FF2B5EF4-FFF2-40B4-BE49-F238E27FC236}">
                <a16:creationId xmlns:a16="http://schemas.microsoft.com/office/drawing/2014/main" id="{C7F647CD-0F1A-4BB3-89E0-A74F1E1B098D}"/>
              </a:ext>
            </a:extLst>
          </p:cNvPr>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7752911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E6EFC2C-8905-46F0-B443-CE905B76BA01}" type="datetime1">
              <a:rPr lang="en-US" smtClean="0"/>
              <a:t>12/2/2025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34509250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764782"/>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768112"/>
            <a:ext cx="3300984" cy="302308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49"/>
            <a:ext cx="3300984" cy="764783"/>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768112"/>
            <a:ext cx="3300984" cy="302308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764782"/>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768110"/>
            <a:ext cx="3300984" cy="302308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D9079DC3-C9B5-499E-9140-0DC28B7074E2}" type="datetime1">
              <a:rPr lang="en-US" smtClean="0"/>
              <a:t>12/2/2025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0326478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a:extLst>
              <a:ext uri="{FF2B5EF4-FFF2-40B4-BE49-F238E27FC236}">
                <a16:creationId xmlns:a16="http://schemas.microsoft.com/office/drawing/2014/main" id="{7E87C569-D426-4615-ADA7-B370EA9834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a:extLst>
              <a:ext uri="{FF2B5EF4-FFF2-40B4-BE49-F238E27FC236}">
                <a16:creationId xmlns:a16="http://schemas.microsoft.com/office/drawing/2014/main" id="{7B353ED4-7AD0-46C9-88ED-1A16B1433A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a:extLst>
              <a:ext uri="{FF2B5EF4-FFF2-40B4-BE49-F238E27FC236}">
                <a16:creationId xmlns:a16="http://schemas.microsoft.com/office/drawing/2014/main" id="{F561D985-AD57-459A-B3A6-EBF2960397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572443"/>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572442"/>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572442"/>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0BB33EA-E472-4D22-9C03-A9C14AA21CED}" type="datetime1">
              <a:rPr lang="en-US" smtClean="0"/>
              <a:t>12/2/2025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7932546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125730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2076450"/>
            <a:ext cx="10353762" cy="3714749"/>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6000749"/>
            <a:ext cx="2743200" cy="365125"/>
          </a:xfrm>
          <a:prstGeom prst="rect">
            <a:avLst/>
          </a:prstGeom>
        </p:spPr>
        <p:txBody>
          <a:bodyPr vert="horz" lIns="91440" tIns="45720" rIns="91440" bIns="45720" rtlCol="0" anchor="ctr"/>
          <a:lstStyle>
            <a:lvl1pPr algn="r">
              <a:defRPr sz="1100">
                <a:solidFill>
                  <a:schemeClr val="tx1">
                    <a:lumMod val="95000"/>
                  </a:schemeClr>
                </a:solidFill>
                <a:effectLst>
                  <a:outerShdw blurRad="50800" dist="38100" dir="2700000" algn="tl" rotWithShape="0">
                    <a:schemeClr val="bg1">
                      <a:alpha val="43000"/>
                    </a:schemeClr>
                  </a:outerShdw>
                </a:effectLst>
              </a:defRPr>
            </a:lvl1pPr>
          </a:lstStyle>
          <a:p>
            <a:fld id="{073ED0CC-082F-4160-86E5-0D6041F12778}" type="datetime1">
              <a:rPr lang="en-US" smtClean="0"/>
              <a:t>12/2/2025</a:t>
            </a:fld>
            <a:endParaRPr lang="en-US" dirty="0"/>
          </a:p>
        </p:txBody>
      </p:sp>
      <p:sp>
        <p:nvSpPr>
          <p:cNvPr id="5" name="Footer Placeholder 4"/>
          <p:cNvSpPr>
            <a:spLocks noGrp="1"/>
          </p:cNvSpPr>
          <p:nvPr>
            <p:ph type="ftr" sz="quarter" idx="3"/>
          </p:nvPr>
        </p:nvSpPr>
        <p:spPr>
          <a:xfrm>
            <a:off x="913795" y="6000749"/>
            <a:ext cx="6672865" cy="365125"/>
          </a:xfrm>
          <a:prstGeom prst="rect">
            <a:avLst/>
          </a:prstGeom>
        </p:spPr>
        <p:txBody>
          <a:bodyPr vert="horz" lIns="91440" tIns="45720" rIns="91440" bIns="45720" rtlCol="0" anchor="ctr"/>
          <a:lstStyle>
            <a:lvl1pPr algn="l">
              <a:defRPr sz="1100">
                <a:solidFill>
                  <a:schemeClr val="tx1">
                    <a:lumMod val="95000"/>
                  </a:schemeClr>
                </a:solidFill>
                <a:effectLst>
                  <a:outerShdw blurRad="50800" dist="38100" dir="2700000" algn="tl" rotWithShape="0">
                    <a:schemeClr val="bg1">
                      <a:alpha val="43000"/>
                    </a:schemeClr>
                  </a:outerShdw>
                </a:effectLst>
              </a:defRPr>
            </a:lvl1pPr>
          </a:lstStyle>
          <a:p>
            <a:endParaRPr lang="en-US" dirty="0"/>
          </a:p>
        </p:txBody>
      </p:sp>
      <p:sp>
        <p:nvSpPr>
          <p:cNvPr id="6" name="Slide Number Placeholder 5"/>
          <p:cNvSpPr>
            <a:spLocks noGrp="1"/>
          </p:cNvSpPr>
          <p:nvPr>
            <p:ph type="sldNum" sz="quarter" idx="4"/>
          </p:nvPr>
        </p:nvSpPr>
        <p:spPr>
          <a:xfrm>
            <a:off x="10514011" y="6000749"/>
            <a:ext cx="753545" cy="365125"/>
          </a:xfrm>
          <a:prstGeom prst="rect">
            <a:avLst/>
          </a:prstGeom>
        </p:spPr>
        <p:txBody>
          <a:bodyPr vert="horz" lIns="91440" tIns="45720" rIns="91440" bIns="45720" rtlCol="0" anchor="ctr"/>
          <a:lstStyle>
            <a:lvl1pPr algn="r">
              <a:defRPr sz="1100">
                <a:solidFill>
                  <a:schemeClr val="tx1">
                    <a:lumMod val="95000"/>
                  </a:schemeClr>
                </a:solidFill>
                <a:effectLst>
                  <a:outerShdw blurRad="50800" dist="38100" dir="2700000" algn="tl" rotWithShape="0">
                    <a:schemeClr val="bg1">
                      <a:alpha val="43000"/>
                    </a:schemeClr>
                  </a:outerShdw>
                </a:effectLst>
              </a:defRPr>
            </a:lvl1pPr>
          </a:lstStyle>
          <a:p>
            <a:fld id="{3A98EE3D-8CD1-4C3F-BD1C-C98C9596463C}" type="slidenum">
              <a:rPr lang="en-US" smtClean="0"/>
              <a:t>‹#›</a:t>
            </a:fld>
            <a:endParaRPr lang="en-US" dirty="0"/>
          </a:p>
        </p:txBody>
      </p:sp>
    </p:spTree>
    <p:extLst>
      <p:ext uri="{BB962C8B-B14F-4D97-AF65-F5344CB8AC3E}">
        <p14:creationId xmlns:p14="http://schemas.microsoft.com/office/powerpoint/2010/main" val="1858978357"/>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Lst>
  <p:hf sldNum="0" hdr="0" ftr="0" dt="0"/>
  <p:txStyles>
    <p:titleStyle>
      <a:lvl1pPr algn="ctr" defTabSz="457200" rtl="0" eaLnBrk="1" latinLnBrk="0" hangingPunct="1">
        <a:lnSpc>
          <a:spcPct val="90000"/>
        </a:lnSpc>
        <a:spcBef>
          <a:spcPct val="0"/>
        </a:spcBef>
        <a:buNone/>
        <a:defRPr sz="4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lnSpc>
          <a:spcPct val="110000"/>
        </a:lnSpc>
        <a:spcBef>
          <a:spcPct val="20000"/>
        </a:spcBef>
        <a:spcAft>
          <a:spcPts val="600"/>
        </a:spcAft>
        <a:buClr>
          <a:schemeClr val="tx2"/>
        </a:buClr>
        <a:buSzPct val="70000"/>
        <a:buFont typeface="Wingdings 2" charset="2"/>
        <a:buChar char=""/>
        <a:defRPr sz="23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21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hemeOverride" Target="../theme/themeOverride1.xml"/><Relationship Id="rId5" Type="http://schemas.openxmlformats.org/officeDocument/2006/relationships/image" Target="../media/image6.jpeg"/><Relationship Id="rId4" Type="http://schemas.openxmlformats.org/officeDocument/2006/relationships/image" Target="../media/image1.jpe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hemeOverride" Target="../theme/themeOverride2.xml"/><Relationship Id="rId4" Type="http://schemas.openxmlformats.org/officeDocument/2006/relationships/image" Target="../media/image7.jpe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4">
            <a:duotone>
              <a:schemeClr val="bg1">
                <a:shade val="80000"/>
                <a:lumMod val="80000"/>
              </a:schemeClr>
              <a:schemeClr val="bg1">
                <a:tint val="98000"/>
              </a:schemeClr>
            </a:duotone>
          </a:blip>
          <a:stretch/>
        </a:blipFill>
        <a:effectLst/>
      </p:bgPr>
    </p:bg>
    <p:spTree>
      <p:nvGrpSpPr>
        <p:cNvPr id="1" name=""/>
        <p:cNvGrpSpPr/>
        <p:nvPr/>
      </p:nvGrpSpPr>
      <p:grpSpPr>
        <a:xfrm>
          <a:off x="0" y="0"/>
          <a:ext cx="0" cy="0"/>
          <a:chOff x="0" y="0"/>
          <a:chExt cx="0" cy="0"/>
        </a:xfrm>
      </p:grpSpPr>
      <p:sp useBgFill="1">
        <p:nvSpPr>
          <p:cNvPr id="108" name="Rectangle 107">
            <a:extLst>
              <a:ext uri="{FF2B5EF4-FFF2-40B4-BE49-F238E27FC236}">
                <a16:creationId xmlns:a16="http://schemas.microsoft.com/office/drawing/2014/main" id="{BD32A07D-C646-4CC0-BA93-76707E707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D1F047C-C727-42A7-85C5-68C5AA1B1A93}"/>
              </a:ext>
            </a:extLst>
          </p:cNvPr>
          <p:cNvSpPr>
            <a:spLocks noGrp="1"/>
          </p:cNvSpPr>
          <p:nvPr>
            <p:ph type="ctrTitle"/>
          </p:nvPr>
        </p:nvSpPr>
        <p:spPr>
          <a:xfrm>
            <a:off x="7947380" y="301228"/>
            <a:ext cx="3382832" cy="3499549"/>
          </a:xfrm>
        </p:spPr>
        <p:txBody>
          <a:bodyPr>
            <a:normAutofit/>
          </a:bodyPr>
          <a:lstStyle/>
          <a:p>
            <a:pPr algn="l"/>
            <a:r>
              <a:rPr lang="en-US" sz="4200" b="1">
                <a:latin typeface="Times New Roman" panose="02020603050405020304" pitchFamily="18" charset="0"/>
                <a:cs typeface="Times New Roman" panose="02020603050405020304" pitchFamily="18" charset="0"/>
              </a:rPr>
              <a:t>Systems Programming</a:t>
            </a:r>
            <a:br>
              <a:rPr lang="en-US" sz="4200" b="1">
                <a:latin typeface="Times New Roman" panose="02020603050405020304" pitchFamily="18" charset="0"/>
                <a:cs typeface="Times New Roman" panose="02020603050405020304" pitchFamily="18" charset="0"/>
              </a:rPr>
            </a:br>
            <a:r>
              <a:rPr lang="en-US" sz="4200" b="1">
                <a:latin typeface="Times New Roman" panose="02020603050405020304" pitchFamily="18" charset="0"/>
                <a:cs typeface="Times New Roman" panose="02020603050405020304" pitchFamily="18" charset="0"/>
              </a:rPr>
              <a:t>Project 4:</a:t>
            </a:r>
            <a:br>
              <a:rPr lang="en-US" sz="4200" b="1">
                <a:latin typeface="Times New Roman" panose="02020603050405020304" pitchFamily="18" charset="0"/>
                <a:cs typeface="Times New Roman" panose="02020603050405020304" pitchFamily="18" charset="0"/>
              </a:rPr>
            </a:br>
            <a:r>
              <a:rPr lang="en-US" sz="4200" b="1">
                <a:latin typeface="Times New Roman" panose="02020603050405020304" pitchFamily="18" charset="0"/>
                <a:cs typeface="Times New Roman" panose="02020603050405020304" pitchFamily="18" charset="0"/>
              </a:rPr>
              <a:t>Relocating Loader</a:t>
            </a:r>
            <a:endParaRPr lang="en-US" sz="4200" b="1"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DB93FB3F-A8D4-46D3-A1C6-C79C64563729}"/>
              </a:ext>
            </a:extLst>
          </p:cNvPr>
          <p:cNvSpPr>
            <a:spLocks noGrp="1"/>
          </p:cNvSpPr>
          <p:nvPr>
            <p:ph type="subTitle" idx="1"/>
          </p:nvPr>
        </p:nvSpPr>
        <p:spPr>
          <a:xfrm>
            <a:off x="7947380" y="3800777"/>
            <a:ext cx="3382831" cy="2500435"/>
          </a:xfrm>
        </p:spPr>
        <p:txBody>
          <a:bodyPr>
            <a:normAutofit/>
          </a:bodyPr>
          <a:lstStyle/>
          <a:p>
            <a:pPr algn="l">
              <a:lnSpc>
                <a:spcPct val="100000"/>
              </a:lnSpc>
            </a:pPr>
            <a:r>
              <a:rPr lang="en-US" sz="2800">
                <a:latin typeface="Times New Roman" panose="02020603050405020304" pitchFamily="18" charset="0"/>
                <a:cs typeface="Times New Roman" panose="02020603050405020304" pitchFamily="18" charset="0"/>
              </a:rPr>
              <a:t>By:</a:t>
            </a:r>
          </a:p>
          <a:p>
            <a:pPr algn="l">
              <a:lnSpc>
                <a:spcPct val="100000"/>
              </a:lnSpc>
            </a:pPr>
            <a:r>
              <a:rPr lang="en-US" sz="2800">
                <a:latin typeface="Times New Roman" panose="02020603050405020304" pitchFamily="18" charset="0"/>
                <a:cs typeface="Times New Roman" panose="02020603050405020304" pitchFamily="18" charset="0"/>
              </a:rPr>
              <a:t>Christopher</a:t>
            </a:r>
          </a:p>
          <a:p>
            <a:pPr algn="l">
              <a:lnSpc>
                <a:spcPct val="100000"/>
              </a:lnSpc>
            </a:pPr>
            <a:r>
              <a:rPr lang="en-US" sz="2800">
                <a:latin typeface="Times New Roman" panose="02020603050405020304" pitchFamily="18" charset="0"/>
                <a:cs typeface="Times New Roman" panose="02020603050405020304" pitchFamily="18" charset="0"/>
              </a:rPr>
              <a:t>Suphakrit Jinaongkan</a:t>
            </a:r>
          </a:p>
          <a:p>
            <a:pPr algn="l">
              <a:lnSpc>
                <a:spcPct val="100000"/>
              </a:lnSpc>
            </a:pPr>
            <a:r>
              <a:rPr lang="en-US" sz="2800">
                <a:latin typeface="Times New Roman" panose="02020603050405020304" pitchFamily="18" charset="0"/>
                <a:cs typeface="Times New Roman" panose="02020603050405020304" pitchFamily="18" charset="0"/>
              </a:rPr>
              <a:t>Zinah Shain</a:t>
            </a:r>
            <a:endParaRPr lang="en-US" sz="2800"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F8A1C807-B9AD-4C9B-BF9F-60F03428998E}"/>
              </a:ext>
              <a:ext uri="{C183D7F6-B498-43B3-948B-1728B52AA6E4}">
                <adec:decorative xmlns:adec="http://schemas.microsoft.com/office/drawing/2017/decorative" val="1"/>
              </a:ext>
            </a:extLst>
          </p:cNvPr>
          <p:cNvPicPr>
            <a:picLocks noChangeAspect="1"/>
          </p:cNvPicPr>
          <p:nvPr/>
        </p:nvPicPr>
        <p:blipFill rotWithShape="1">
          <a:blip r:embed="rId5">
            <a:extLst>
              <a:ext uri="{28A0092B-C50C-407E-A947-70E740481C1C}">
                <a14:useLocalDpi xmlns:a14="http://schemas.microsoft.com/office/drawing/2010/main" val="0"/>
              </a:ext>
            </a:extLst>
          </a:blip>
          <a:srcRect l="8629" r="29546"/>
          <a:stretch>
            <a:fillRect/>
          </a:stretch>
        </p:blipFill>
        <p:spPr>
          <a:xfrm>
            <a:off x="-1" y="10"/>
            <a:ext cx="7537704" cy="6857990"/>
          </a:xfrm>
          <a:prstGeom prst="rect">
            <a:avLst/>
          </a:prstGeom>
        </p:spPr>
      </p:pic>
    </p:spTree>
    <p:extLst>
      <p:ext uri="{BB962C8B-B14F-4D97-AF65-F5344CB8AC3E}">
        <p14:creationId xmlns:p14="http://schemas.microsoft.com/office/powerpoint/2010/main" val="41678842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2B2D6DE-C9B5-4678-91EF-77E85F2350DA}"/>
              </a:ext>
              <a:ext uri="{C183D7F6-B498-43B3-948B-1728B52AA6E4}">
                <adec:decorative xmlns:adec="http://schemas.microsoft.com/office/drawing/2017/decorative" val="1"/>
              </a:ext>
            </a:extLst>
          </p:cNvPr>
          <p:cNvPicPr>
            <a:picLocks noChangeAspect="1"/>
          </p:cNvPicPr>
          <p:nvPr/>
        </p:nvPicPr>
        <p:blipFill rotWithShape="1">
          <a:blip r:embed="rId4">
            <a:alphaModFix amt="25000"/>
            <a:extLst>
              <a:ext uri="{28A0092B-C50C-407E-A947-70E740481C1C}">
                <a14:useLocalDpi xmlns:a14="http://schemas.microsoft.com/office/drawing/2010/main" val="0"/>
              </a:ext>
            </a:extLst>
          </a:blip>
          <a:srcRect t="24969" b="24968"/>
          <a:stretch>
            <a:fillRect/>
          </a:stretch>
        </p:blipFill>
        <p:spPr>
          <a:xfrm>
            <a:off x="20" y="10"/>
            <a:ext cx="12191980" cy="6857990"/>
          </a:xfrm>
          <a:prstGeom prst="rect">
            <a:avLst/>
          </a:prstGeom>
        </p:spPr>
      </p:pic>
      <p:sp>
        <p:nvSpPr>
          <p:cNvPr id="2" name="Title 1">
            <a:extLst>
              <a:ext uri="{FF2B5EF4-FFF2-40B4-BE49-F238E27FC236}">
                <a16:creationId xmlns:a16="http://schemas.microsoft.com/office/drawing/2014/main" id="{89559F60-4CE1-4E2F-86EA-1B60679F1F4A}"/>
              </a:ext>
            </a:extLst>
          </p:cNvPr>
          <p:cNvSpPr>
            <a:spLocks noGrp="1"/>
          </p:cNvSpPr>
          <p:nvPr>
            <p:ph type="title"/>
          </p:nvPr>
        </p:nvSpPr>
        <p:spPr>
          <a:xfrm>
            <a:off x="913795" y="609600"/>
            <a:ext cx="10353762" cy="1257300"/>
          </a:xfrm>
        </p:spPr>
        <p:txBody>
          <a:bodyPr>
            <a:normAutofit/>
          </a:bodyPr>
          <a:lstStyle/>
          <a:p>
            <a:r>
              <a:rPr lang="en-US" sz="4800" dirty="0">
                <a:latin typeface="Times New Roman" panose="02020603050405020304" pitchFamily="18" charset="0"/>
                <a:cs typeface="Times New Roman" panose="02020603050405020304" pitchFamily="18" charset="0"/>
              </a:rPr>
              <a:t>Table of Contents</a:t>
            </a:r>
            <a:r>
              <a:rPr lang="en-US" dirty="0"/>
              <a:t>	</a:t>
            </a:r>
          </a:p>
        </p:txBody>
      </p:sp>
      <p:sp>
        <p:nvSpPr>
          <p:cNvPr id="24" name="Content Placeholder 2">
            <a:extLst>
              <a:ext uri="{FF2B5EF4-FFF2-40B4-BE49-F238E27FC236}">
                <a16:creationId xmlns:a16="http://schemas.microsoft.com/office/drawing/2014/main" id="{F260476B-CCA6-412B-A9C5-399C34AE6F05}"/>
              </a:ext>
            </a:extLst>
          </p:cNvPr>
          <p:cNvSpPr>
            <a:spLocks noGrp="1"/>
          </p:cNvSpPr>
          <p:nvPr>
            <p:ph idx="1"/>
          </p:nvPr>
        </p:nvSpPr>
        <p:spPr>
          <a:xfrm>
            <a:off x="913795" y="2076450"/>
            <a:ext cx="10353762" cy="3714749"/>
          </a:xfrm>
        </p:spPr>
        <p:txBody>
          <a:bodyPr anchor="ctr">
            <a:noAutofit/>
          </a:bodyPr>
          <a:lstStyle/>
          <a:p>
            <a:pPr>
              <a:buFont typeface="Wingdings" panose="05000000000000000000" pitchFamily="2" charset="2"/>
              <a:buChar char="Ø"/>
              <a:defRPr sz="2800"/>
            </a:pPr>
            <a:r>
              <a:rPr sz="3600" dirty="0">
                <a:latin typeface="Times New Roman" panose="02020603050405020304" pitchFamily="18" charset="0"/>
                <a:cs typeface="Times New Roman" panose="02020603050405020304" pitchFamily="18" charset="0"/>
              </a:rPr>
              <a:t>Introduction</a:t>
            </a:r>
            <a:endParaRPr lang="en-US" sz="3600" dirty="0">
              <a:latin typeface="Times New Roman" panose="02020603050405020304" pitchFamily="18" charset="0"/>
              <a:cs typeface="Times New Roman" panose="02020603050405020304" pitchFamily="18" charset="0"/>
            </a:endParaRPr>
          </a:p>
          <a:p>
            <a:pPr>
              <a:buFont typeface="Wingdings" panose="05000000000000000000" pitchFamily="2" charset="2"/>
              <a:buChar char="Ø"/>
              <a:defRPr sz="2800"/>
            </a:pPr>
            <a:r>
              <a:rPr sz="3600" dirty="0">
                <a:latin typeface="Times New Roman" panose="02020603050405020304" pitchFamily="18" charset="0"/>
                <a:cs typeface="Times New Roman" panose="02020603050405020304" pitchFamily="18" charset="0"/>
              </a:rPr>
              <a:t>Implementation</a:t>
            </a:r>
            <a:endParaRPr lang="en-US" sz="3600" dirty="0">
              <a:latin typeface="Times New Roman" panose="02020603050405020304" pitchFamily="18" charset="0"/>
              <a:cs typeface="Times New Roman" panose="02020603050405020304" pitchFamily="18" charset="0"/>
            </a:endParaRPr>
          </a:p>
          <a:p>
            <a:pPr>
              <a:buFont typeface="Wingdings" panose="05000000000000000000" pitchFamily="2" charset="2"/>
              <a:buChar char="Ø"/>
              <a:defRPr sz="2800"/>
            </a:pPr>
            <a:r>
              <a:rPr sz="3600" dirty="0">
                <a:latin typeface="Times New Roman" panose="02020603050405020304" pitchFamily="18" charset="0"/>
                <a:cs typeface="Times New Roman" panose="02020603050405020304" pitchFamily="18" charset="0"/>
              </a:rPr>
              <a:t>Challenges we faced </a:t>
            </a:r>
            <a:endParaRPr lang="en-US" sz="3600" dirty="0">
              <a:latin typeface="Times New Roman" panose="02020603050405020304" pitchFamily="18" charset="0"/>
              <a:cs typeface="Times New Roman" panose="02020603050405020304" pitchFamily="18" charset="0"/>
            </a:endParaRPr>
          </a:p>
          <a:p>
            <a:pPr>
              <a:buFont typeface="Wingdings" panose="05000000000000000000" pitchFamily="2" charset="2"/>
              <a:buChar char="Ø"/>
              <a:defRPr sz="2800"/>
            </a:pPr>
            <a:r>
              <a:rPr sz="3600" dirty="0">
                <a:latin typeface="Times New Roman" panose="02020603050405020304" pitchFamily="18" charset="0"/>
                <a:cs typeface="Times New Roman" panose="02020603050405020304" pitchFamily="18" charset="0"/>
              </a:rPr>
              <a:t>Testing</a:t>
            </a:r>
          </a:p>
          <a:p>
            <a:pPr>
              <a:buFont typeface="Wingdings" panose="05000000000000000000" pitchFamily="2" charset="2"/>
              <a:buChar char="Ø"/>
              <a:defRPr sz="2800"/>
            </a:pPr>
            <a:r>
              <a:rPr sz="3600" dirty="0">
                <a:latin typeface="Times New Roman" panose="02020603050405020304" pitchFamily="18" charset="0"/>
                <a:cs typeface="Times New Roman" panose="02020603050405020304" pitchFamily="18" charset="0"/>
              </a:rPr>
              <a:t>Our solutions</a:t>
            </a:r>
            <a:endParaRPr lang="en-US" sz="3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202356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60DFE-C805-1596-EAA3-4734E9943A5B}"/>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Introduction</a:t>
            </a:r>
          </a:p>
        </p:txBody>
      </p:sp>
      <p:sp>
        <p:nvSpPr>
          <p:cNvPr id="3" name="Content Placeholder 2">
            <a:extLst>
              <a:ext uri="{FF2B5EF4-FFF2-40B4-BE49-F238E27FC236}">
                <a16:creationId xmlns:a16="http://schemas.microsoft.com/office/drawing/2014/main" id="{E82B8472-1D7D-4979-DD15-C9DB6A5FB493}"/>
              </a:ext>
            </a:extLst>
          </p:cNvPr>
          <p:cNvSpPr>
            <a:spLocks noGrp="1"/>
          </p:cNvSpPr>
          <p:nvPr>
            <p:ph idx="1"/>
          </p:nvPr>
        </p:nvSpPr>
        <p:spPr>
          <a:xfrm>
            <a:off x="913795" y="2076450"/>
            <a:ext cx="10353762" cy="4171950"/>
          </a:xfrm>
        </p:spPr>
        <p:txBody>
          <a:bodyPr>
            <a:noAutofit/>
          </a:bodyPr>
          <a:lstStyle/>
          <a:p>
            <a:pPr>
              <a:buFont typeface="Wingdings" panose="05000000000000000000" pitchFamily="2" charset="2"/>
              <a:buChar char="Ø"/>
              <a:defRPr sz="2400"/>
            </a:pPr>
            <a:r>
              <a:rPr lang="en-US" sz="2800" dirty="0">
                <a:latin typeface="Times New Roman" panose="02020603050405020304" pitchFamily="18" charset="0"/>
                <a:cs typeface="Times New Roman" panose="02020603050405020304" pitchFamily="18" charset="0"/>
              </a:rPr>
              <a:t>Goal: Build a relocating loader for SIC using C. </a:t>
            </a:r>
          </a:p>
          <a:p>
            <a:pPr>
              <a:buFont typeface="Wingdings" panose="05000000000000000000" pitchFamily="2" charset="2"/>
              <a:buChar char="Ø"/>
              <a:defRPr sz="2400"/>
            </a:pPr>
            <a:r>
              <a:rPr lang="en-US" sz="2800" dirty="0">
                <a:latin typeface="Times New Roman" panose="02020603050405020304" pitchFamily="18" charset="0"/>
                <a:cs typeface="Times New Roman" panose="02020603050405020304" pitchFamily="18" charset="0"/>
              </a:rPr>
              <a:t>Program revolves around accepting 3 command-line arguments:</a:t>
            </a:r>
          </a:p>
          <a:p>
            <a:pPr lvl="2">
              <a:buFont typeface="Wingdings" panose="05000000000000000000" pitchFamily="2" charset="2"/>
              <a:buChar char="Ø"/>
              <a:defRPr sz="2400"/>
            </a:pPr>
            <a:r>
              <a:rPr lang="en-US" sz="2800" dirty="0">
                <a:latin typeface="Times New Roman" panose="02020603050405020304" pitchFamily="18" charset="0"/>
                <a:cs typeface="Times New Roman" panose="02020603050405020304" pitchFamily="18" charset="0"/>
              </a:rPr>
              <a:t>1.) The name of a SIC object file.</a:t>
            </a:r>
          </a:p>
          <a:p>
            <a:pPr lvl="2">
              <a:buFont typeface="Wingdings" panose="05000000000000000000" pitchFamily="2" charset="2"/>
              <a:buChar char="Ø"/>
              <a:defRPr sz="2400"/>
            </a:pPr>
            <a:r>
              <a:rPr lang="en-US" sz="2800" dirty="0">
                <a:latin typeface="Times New Roman" panose="02020603050405020304" pitchFamily="18" charset="0"/>
                <a:cs typeface="Times New Roman" panose="02020603050405020304" pitchFamily="18" charset="0"/>
              </a:rPr>
              <a:t>2.) The address in hex to relocate the SIC object file to. </a:t>
            </a:r>
          </a:p>
          <a:p>
            <a:pPr lvl="2">
              <a:buFont typeface="Wingdings" panose="05000000000000000000" pitchFamily="2" charset="2"/>
              <a:buChar char="Ø"/>
              <a:defRPr sz="2400"/>
            </a:pPr>
            <a:r>
              <a:rPr lang="en-US" sz="2800" dirty="0">
                <a:latin typeface="Times New Roman" panose="02020603050405020304" pitchFamily="18" charset="0"/>
                <a:cs typeface="Times New Roman" panose="02020603050405020304" pitchFamily="18" charset="0"/>
              </a:rPr>
              <a:t>3.) Target machine: SIC or SICXE.</a:t>
            </a:r>
          </a:p>
          <a:p>
            <a:pPr>
              <a:buFont typeface="Wingdings" panose="05000000000000000000" pitchFamily="2" charset="2"/>
              <a:buChar char="Ø"/>
              <a:defRPr sz="2400"/>
            </a:pPr>
            <a:endParaRPr lang="en-US" sz="2800" dirty="0">
              <a:latin typeface="Times New Roman" panose="02020603050405020304" pitchFamily="18" charset="0"/>
              <a:cs typeface="Times New Roman" panose="02020603050405020304" pitchFamily="18" charset="0"/>
            </a:endParaRPr>
          </a:p>
          <a:p>
            <a:pPr>
              <a:buFont typeface="Wingdings" panose="05000000000000000000" pitchFamily="2" charset="2"/>
              <a:buChar char="Ø"/>
              <a:defRPr sz="2400"/>
            </a:pPr>
            <a:r>
              <a:rPr lang="en-US" sz="2800" dirty="0">
                <a:latin typeface="Times New Roman" panose="02020603050405020304" pitchFamily="18" charset="0"/>
                <a:cs typeface="Times New Roman" panose="02020603050405020304" pitchFamily="18" charset="0"/>
              </a:rPr>
              <a:t>Output: relocated T and E records are printed to &lt;stdout&gt;. </a:t>
            </a:r>
          </a:p>
        </p:txBody>
      </p:sp>
    </p:spTree>
    <p:extLst>
      <p:ext uri="{BB962C8B-B14F-4D97-AF65-F5344CB8AC3E}">
        <p14:creationId xmlns:p14="http://schemas.microsoft.com/office/powerpoint/2010/main" val="10063267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0D2EB1-E490-26AE-966E-B60DE80183B5}"/>
              </a:ext>
            </a:extLst>
          </p:cNvPr>
          <p:cNvSpPr>
            <a:spLocks noGrp="1"/>
          </p:cNvSpPr>
          <p:nvPr>
            <p:ph type="title"/>
          </p:nvPr>
        </p:nvSpPr>
        <p:spPr>
          <a:xfrm>
            <a:off x="919119" y="375684"/>
            <a:ext cx="10353762" cy="815163"/>
          </a:xfrm>
        </p:spPr>
        <p:txBody>
          <a:bodyPr/>
          <a:lstStyle/>
          <a:p>
            <a:r>
              <a:rPr lang="en-US" dirty="0">
                <a:latin typeface="Times New Roman" panose="02020603050405020304" pitchFamily="18" charset="0"/>
                <a:cs typeface="Times New Roman" panose="02020603050405020304" pitchFamily="18" charset="0"/>
              </a:rPr>
              <a:t>Implementation</a:t>
            </a:r>
            <a:r>
              <a:rPr lang="en-US" dirty="0"/>
              <a:t> </a:t>
            </a:r>
          </a:p>
        </p:txBody>
      </p:sp>
      <p:sp>
        <p:nvSpPr>
          <p:cNvPr id="3" name="Content Placeholder 2">
            <a:extLst>
              <a:ext uri="{FF2B5EF4-FFF2-40B4-BE49-F238E27FC236}">
                <a16:creationId xmlns:a16="http://schemas.microsoft.com/office/drawing/2014/main" id="{B6F8189E-F09D-491A-23C6-C7DD2C3BF0B6}"/>
              </a:ext>
            </a:extLst>
          </p:cNvPr>
          <p:cNvSpPr>
            <a:spLocks noGrp="1"/>
          </p:cNvSpPr>
          <p:nvPr>
            <p:ph idx="1"/>
          </p:nvPr>
        </p:nvSpPr>
        <p:spPr>
          <a:xfrm>
            <a:off x="913795" y="1360967"/>
            <a:ext cx="10353762" cy="4827181"/>
          </a:xfrm>
        </p:spPr>
        <p:txBody>
          <a:bodyPr>
            <a:noAutofit/>
          </a:bodyPr>
          <a:lstStyle/>
          <a:p>
            <a:pPr>
              <a:buFont typeface="Wingdings" panose="05000000000000000000" pitchFamily="2" charset="2"/>
              <a:buChar char="Ø"/>
              <a:defRPr sz="2400"/>
            </a:pPr>
            <a:r>
              <a:rPr sz="2800" dirty="0">
                <a:latin typeface="Times New Roman" panose="02020603050405020304" pitchFamily="18" charset="0"/>
                <a:cs typeface="Times New Roman" panose="02020603050405020304" pitchFamily="18" charset="0"/>
              </a:rPr>
              <a:t>We start with a SIC object file that was assembled for an original start address.</a:t>
            </a:r>
          </a:p>
          <a:p>
            <a:pPr>
              <a:buFont typeface="Wingdings" panose="05000000000000000000" pitchFamily="2" charset="2"/>
              <a:buChar char="Ø"/>
              <a:defRPr sz="2400"/>
            </a:pPr>
            <a:r>
              <a:rPr sz="2800" dirty="0">
                <a:latin typeface="Times New Roman" panose="02020603050405020304" pitchFamily="18" charset="0"/>
                <a:cs typeface="Times New Roman" panose="02020603050405020304" pitchFamily="18" charset="0"/>
              </a:rPr>
              <a:t>The user provides a new load address and selects SIC or SICXE mode.</a:t>
            </a:r>
          </a:p>
          <a:p>
            <a:pPr>
              <a:buFont typeface="Wingdings" panose="05000000000000000000" pitchFamily="2" charset="2"/>
              <a:buChar char="Ø"/>
              <a:defRPr sz="2400"/>
            </a:pPr>
            <a:r>
              <a:rPr sz="2800" dirty="0">
                <a:latin typeface="Times New Roman" panose="02020603050405020304" pitchFamily="18" charset="0"/>
                <a:cs typeface="Times New Roman" panose="02020603050405020304" pitchFamily="18" charset="0"/>
              </a:rPr>
              <a:t>We calculate how far the program needs to move (the relocation offset).</a:t>
            </a:r>
          </a:p>
          <a:p>
            <a:pPr>
              <a:buFont typeface="Wingdings" panose="05000000000000000000" pitchFamily="2" charset="2"/>
              <a:buChar char="Ø"/>
              <a:defRPr sz="2400"/>
            </a:pPr>
            <a:r>
              <a:rPr sz="2800" dirty="0">
                <a:latin typeface="Times New Roman" panose="02020603050405020304" pitchFamily="18" charset="0"/>
                <a:cs typeface="Times New Roman" panose="02020603050405020304" pitchFamily="18" charset="0"/>
              </a:rPr>
              <a:t>We apply that shift and print the updated object program to the screen.</a:t>
            </a:r>
          </a:p>
        </p:txBody>
      </p:sp>
    </p:spTree>
    <p:extLst>
      <p:ext uri="{BB962C8B-B14F-4D97-AF65-F5344CB8AC3E}">
        <p14:creationId xmlns:p14="http://schemas.microsoft.com/office/powerpoint/2010/main" val="14726199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5455C9-FC93-EBFA-DAE2-9224DA2852F4}"/>
              </a:ext>
            </a:extLst>
          </p:cNvPr>
          <p:cNvSpPr>
            <a:spLocks noGrp="1"/>
          </p:cNvSpPr>
          <p:nvPr>
            <p:ph type="title"/>
          </p:nvPr>
        </p:nvSpPr>
        <p:spPr>
          <a:xfrm>
            <a:off x="913795" y="618259"/>
            <a:ext cx="10353762" cy="1257300"/>
          </a:xfrm>
        </p:spPr>
        <p:txBody>
          <a:bodyPr/>
          <a:lstStyle/>
          <a:p>
            <a:r>
              <a:rPr lang="en-US" dirty="0">
                <a:latin typeface="Times New Roman" panose="02020603050405020304" pitchFamily="18" charset="0"/>
                <a:cs typeface="Times New Roman" panose="02020603050405020304" pitchFamily="18" charset="0"/>
              </a:rPr>
              <a:t>Challenges</a:t>
            </a:r>
          </a:p>
        </p:txBody>
      </p:sp>
      <p:sp>
        <p:nvSpPr>
          <p:cNvPr id="3" name="Content Placeholder 2">
            <a:extLst>
              <a:ext uri="{FF2B5EF4-FFF2-40B4-BE49-F238E27FC236}">
                <a16:creationId xmlns:a16="http://schemas.microsoft.com/office/drawing/2014/main" id="{846FC266-5890-F99A-46D5-764942A7081F}"/>
              </a:ext>
            </a:extLst>
          </p:cNvPr>
          <p:cNvSpPr>
            <a:spLocks noGrp="1"/>
          </p:cNvSpPr>
          <p:nvPr>
            <p:ph idx="1"/>
          </p:nvPr>
        </p:nvSpPr>
        <p:spPr>
          <a:xfrm>
            <a:off x="913795" y="2092036"/>
            <a:ext cx="10353762" cy="3602181"/>
          </a:xfrm>
        </p:spPr>
        <p:txBody>
          <a:bodyPr>
            <a:normAutofit lnSpcReduction="10000"/>
          </a:bodyPr>
          <a:lstStyle/>
          <a:p>
            <a:pPr>
              <a:buFont typeface="Wingdings" panose="05000000000000000000" pitchFamily="2" charset="2"/>
              <a:buChar char="Ø"/>
              <a:defRPr sz="2400"/>
            </a:pPr>
            <a:r>
              <a:rPr lang="en-US" sz="3200" dirty="0">
                <a:latin typeface="Times New Roman" panose="02020603050405020304" pitchFamily="18" charset="0"/>
                <a:cs typeface="Times New Roman" panose="02020603050405020304" pitchFamily="18" charset="0"/>
              </a:rPr>
              <a:t>Matching each M record to the correct location in the object code.</a:t>
            </a:r>
          </a:p>
          <a:p>
            <a:pPr>
              <a:buFont typeface="Wingdings" panose="05000000000000000000" pitchFamily="2" charset="2"/>
              <a:buChar char="Ø"/>
              <a:defRPr sz="2400"/>
            </a:pPr>
            <a:r>
              <a:rPr lang="en-US" sz="3200" dirty="0">
                <a:latin typeface="Times New Roman" panose="02020603050405020304" pitchFamily="18" charset="0"/>
                <a:cs typeface="Times New Roman" panose="02020603050405020304" pitchFamily="18" charset="0"/>
              </a:rPr>
              <a:t>Even the smallest address mistake can move the program to the wrong place. </a:t>
            </a:r>
            <a:endParaRPr sz="3200" dirty="0">
              <a:latin typeface="Times New Roman" panose="02020603050405020304" pitchFamily="18" charset="0"/>
              <a:cs typeface="Times New Roman" panose="02020603050405020304" pitchFamily="18" charset="0"/>
            </a:endParaRPr>
          </a:p>
          <a:p>
            <a:pPr>
              <a:buFont typeface="Wingdings" panose="05000000000000000000" pitchFamily="2" charset="2"/>
              <a:buChar char="Ø"/>
              <a:defRPr sz="2400"/>
            </a:pPr>
            <a:r>
              <a:rPr lang="en-US" sz="3200" dirty="0">
                <a:latin typeface="Times New Roman" panose="02020603050405020304" pitchFamily="18" charset="0"/>
                <a:cs typeface="Times New Roman" panose="02020603050405020304" pitchFamily="18" charset="0"/>
              </a:rPr>
              <a:t>Changing the wrong bits can alter how an instruction behaves</a:t>
            </a:r>
            <a:r>
              <a:rPr sz="32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1579336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1">
                <a:shade val="80000"/>
                <a:lumMod val="80000"/>
              </a:schemeClr>
              <a:schemeClr val="bg1">
                <a:tint val="98000"/>
              </a:schemeClr>
            </a:duotone>
          </a:blip>
          <a:stretch/>
        </a:blip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F662C799-B874-4F21-9E26-28BC92A659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F310E3F-0B4B-8246-7E76-715FCE9367AC}"/>
              </a:ext>
            </a:extLst>
          </p:cNvPr>
          <p:cNvSpPr>
            <a:spLocks noGrp="1"/>
          </p:cNvSpPr>
          <p:nvPr>
            <p:ph type="title"/>
          </p:nvPr>
        </p:nvSpPr>
        <p:spPr>
          <a:xfrm>
            <a:off x="633743" y="609599"/>
            <a:ext cx="3413156" cy="5273675"/>
          </a:xfrm>
        </p:spPr>
        <p:txBody>
          <a:bodyPr>
            <a:normAutofit/>
          </a:bodyPr>
          <a:lstStyle/>
          <a:p>
            <a:r>
              <a:rPr lang="en-US" dirty="0">
                <a:latin typeface="Times New Roman" panose="02020603050405020304" pitchFamily="18" charset="0"/>
                <a:cs typeface="Times New Roman" panose="02020603050405020304" pitchFamily="18" charset="0"/>
              </a:rPr>
              <a:t>Challenges Cont’d</a:t>
            </a:r>
          </a:p>
        </p:txBody>
      </p:sp>
      <p:sp>
        <p:nvSpPr>
          <p:cNvPr id="3" name="Content Placeholder 2">
            <a:extLst>
              <a:ext uri="{FF2B5EF4-FFF2-40B4-BE49-F238E27FC236}">
                <a16:creationId xmlns:a16="http://schemas.microsoft.com/office/drawing/2014/main" id="{79680B54-33D5-72C4-2E53-469A37F7602D}"/>
              </a:ext>
            </a:extLst>
          </p:cNvPr>
          <p:cNvSpPr>
            <a:spLocks noGrp="1"/>
          </p:cNvSpPr>
          <p:nvPr>
            <p:ph idx="1"/>
          </p:nvPr>
        </p:nvSpPr>
        <p:spPr>
          <a:xfrm>
            <a:off x="4680641" y="659341"/>
            <a:ext cx="6889687" cy="5273675"/>
          </a:xfrm>
        </p:spPr>
        <p:txBody>
          <a:bodyPr anchor="ctr">
            <a:normAutofit fontScale="92500" lnSpcReduction="20000"/>
          </a:bodyPr>
          <a:lstStyle/>
          <a:p>
            <a:pPr>
              <a:buFont typeface="Wingdings" panose="05000000000000000000" pitchFamily="2" charset="2"/>
              <a:buChar char="Ø"/>
              <a:defRPr sz="2400"/>
            </a:pPr>
            <a:r>
              <a:rPr lang="en-US" sz="2800" dirty="0">
                <a:latin typeface="Times New Roman" panose="02020603050405020304" pitchFamily="18" charset="0"/>
                <a:cs typeface="Times New Roman" panose="02020603050405020304" pitchFamily="18" charset="0"/>
              </a:rPr>
              <a:t>Handling the differences between SIC and SICXE relocation rules.</a:t>
            </a:r>
          </a:p>
          <a:p>
            <a:pPr>
              <a:buFont typeface="Wingdings" panose="05000000000000000000" pitchFamily="2" charset="2"/>
              <a:buChar char="Ø"/>
              <a:defRPr sz="2400"/>
            </a:pPr>
            <a:r>
              <a:rPr lang="en-US" sz="2800" dirty="0">
                <a:latin typeface="Times New Roman" panose="02020603050405020304" pitchFamily="18" charset="0"/>
                <a:cs typeface="Times New Roman" panose="02020603050405020304" pitchFamily="18" charset="0"/>
              </a:rPr>
              <a:t>Avoiding mistakes when the object program is split across multiple records.</a:t>
            </a:r>
          </a:p>
          <a:p>
            <a:pPr lvl="1">
              <a:buFont typeface="Wingdings" panose="05000000000000000000" pitchFamily="2" charset="2"/>
              <a:buChar char="Ø"/>
              <a:defRPr sz="2400"/>
            </a:pPr>
            <a:endParaRPr lang="en-US" sz="2600" dirty="0">
              <a:latin typeface="Times New Roman" panose="02020603050405020304" pitchFamily="18" charset="0"/>
              <a:cs typeface="Times New Roman" panose="02020603050405020304" pitchFamily="18" charset="0"/>
            </a:endParaRPr>
          </a:p>
          <a:p>
            <a:pPr lvl="1">
              <a:buFont typeface="Wingdings" panose="05000000000000000000" pitchFamily="2" charset="2"/>
              <a:buChar char="Ø"/>
              <a:defRPr sz="2400"/>
            </a:pPr>
            <a:endParaRPr lang="en-US" sz="2600" dirty="0">
              <a:latin typeface="Times New Roman" panose="02020603050405020304" pitchFamily="18" charset="0"/>
              <a:cs typeface="Times New Roman" panose="02020603050405020304" pitchFamily="18" charset="0"/>
            </a:endParaRPr>
          </a:p>
          <a:p>
            <a:pPr lvl="1">
              <a:buFont typeface="Wingdings" panose="05000000000000000000" pitchFamily="2" charset="2"/>
              <a:buChar char="Ø"/>
              <a:defRPr sz="2400"/>
            </a:pPr>
            <a:endParaRPr lang="en-US" sz="2600" dirty="0">
              <a:latin typeface="Times New Roman" panose="02020603050405020304" pitchFamily="18" charset="0"/>
              <a:cs typeface="Times New Roman" panose="02020603050405020304" pitchFamily="18" charset="0"/>
            </a:endParaRPr>
          </a:p>
          <a:p>
            <a:pPr lvl="1">
              <a:buFont typeface="Wingdings" panose="05000000000000000000" pitchFamily="2" charset="2"/>
              <a:buChar char="Ø"/>
              <a:defRPr sz="2400"/>
            </a:pPr>
            <a:endParaRPr lang="en-US" sz="2600" dirty="0">
              <a:latin typeface="Times New Roman" panose="02020603050405020304" pitchFamily="18" charset="0"/>
              <a:cs typeface="Times New Roman" panose="02020603050405020304" pitchFamily="18" charset="0"/>
            </a:endParaRPr>
          </a:p>
          <a:p>
            <a:pPr lvl="1">
              <a:buFont typeface="Wingdings" panose="05000000000000000000" pitchFamily="2" charset="2"/>
              <a:buChar char="Ø"/>
              <a:defRPr sz="2400"/>
            </a:pPr>
            <a:endParaRPr lang="en-US" sz="2600" dirty="0">
              <a:latin typeface="Times New Roman" panose="02020603050405020304" pitchFamily="18" charset="0"/>
              <a:cs typeface="Times New Roman" panose="02020603050405020304" pitchFamily="18" charset="0"/>
            </a:endParaRPr>
          </a:p>
          <a:p>
            <a:pPr lvl="1">
              <a:buFont typeface="Wingdings" panose="05000000000000000000" pitchFamily="2" charset="2"/>
              <a:buChar char="Ø"/>
              <a:defRPr sz="2400"/>
            </a:pPr>
            <a:endParaRPr lang="en-US" sz="2600" dirty="0">
              <a:latin typeface="Times New Roman" panose="02020603050405020304" pitchFamily="18" charset="0"/>
              <a:cs typeface="Times New Roman" panose="02020603050405020304" pitchFamily="18" charset="0"/>
            </a:endParaRPr>
          </a:p>
          <a:p>
            <a:pPr>
              <a:buFont typeface="Wingdings" panose="05000000000000000000" pitchFamily="2" charset="2"/>
              <a:buChar char="Ø"/>
              <a:defRPr sz="2400"/>
            </a:pPr>
            <a:r>
              <a:rPr lang="en-US" sz="2800" dirty="0">
                <a:latin typeface="Times New Roman" panose="02020603050405020304" pitchFamily="18" charset="0"/>
                <a:cs typeface="Times New Roman" panose="02020603050405020304" pitchFamily="18" charset="0"/>
              </a:rPr>
              <a:t>Preventing relocation from touching fields that affect instruction behavior.</a:t>
            </a:r>
          </a:p>
        </p:txBody>
      </p:sp>
      <p:pic>
        <p:nvPicPr>
          <p:cNvPr id="7" name="Picture 6" descr="A computer code with white text&#10;&#10;AI-generated content may be incorrect.">
            <a:extLst>
              <a:ext uri="{FF2B5EF4-FFF2-40B4-BE49-F238E27FC236}">
                <a16:creationId xmlns:a16="http://schemas.microsoft.com/office/drawing/2014/main" id="{CA01A2F2-3815-B906-8BC8-B10AE1F0CBC1}"/>
              </a:ext>
            </a:extLst>
          </p:cNvPr>
          <p:cNvPicPr>
            <a:picLocks noChangeAspect="1"/>
          </p:cNvPicPr>
          <p:nvPr/>
        </p:nvPicPr>
        <p:blipFill>
          <a:blip r:embed="rId4"/>
          <a:stretch>
            <a:fillRect/>
          </a:stretch>
        </p:blipFill>
        <p:spPr>
          <a:xfrm>
            <a:off x="5343472" y="2635291"/>
            <a:ext cx="5551954" cy="1850651"/>
          </a:xfrm>
          <a:prstGeom prst="rect">
            <a:avLst/>
          </a:prstGeom>
        </p:spPr>
      </p:pic>
    </p:spTree>
    <p:extLst>
      <p:ext uri="{BB962C8B-B14F-4D97-AF65-F5344CB8AC3E}">
        <p14:creationId xmlns:p14="http://schemas.microsoft.com/office/powerpoint/2010/main" val="38759150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85E8AF-D893-80A0-1418-7B968BEF58E8}"/>
              </a:ext>
            </a:extLst>
          </p:cNvPr>
          <p:cNvSpPr>
            <a:spLocks noGrp="1"/>
          </p:cNvSpPr>
          <p:nvPr>
            <p:ph type="title"/>
          </p:nvPr>
        </p:nvSpPr>
        <p:spPr/>
        <p:txBody>
          <a:bodyPr>
            <a:normAutofit/>
          </a:bodyPr>
          <a:lstStyle/>
          <a:p>
            <a:r>
              <a:rPr lang="en-US" dirty="0">
                <a:latin typeface="Times New Roman" panose="02020603050405020304" pitchFamily="18" charset="0"/>
                <a:cs typeface="Times New Roman" panose="02020603050405020304" pitchFamily="18" charset="0"/>
              </a:rPr>
              <a:t>Testing</a:t>
            </a:r>
          </a:p>
        </p:txBody>
      </p:sp>
      <p:sp>
        <p:nvSpPr>
          <p:cNvPr id="3" name="Content Placeholder 2">
            <a:extLst>
              <a:ext uri="{FF2B5EF4-FFF2-40B4-BE49-F238E27FC236}">
                <a16:creationId xmlns:a16="http://schemas.microsoft.com/office/drawing/2014/main" id="{5646C1BC-BC65-E54D-4F88-6CF628A97767}"/>
              </a:ext>
            </a:extLst>
          </p:cNvPr>
          <p:cNvSpPr>
            <a:spLocks noGrp="1"/>
          </p:cNvSpPr>
          <p:nvPr>
            <p:ph idx="1"/>
          </p:nvPr>
        </p:nvSpPr>
        <p:spPr>
          <a:xfrm>
            <a:off x="913795" y="2076450"/>
            <a:ext cx="10353762" cy="4026638"/>
          </a:xfrm>
        </p:spPr>
        <p:txBody>
          <a:bodyPr>
            <a:noAutofit/>
          </a:bodyPr>
          <a:lstStyle/>
          <a:p>
            <a:pPr>
              <a:buFont typeface="Wingdings" panose="05000000000000000000" pitchFamily="2" charset="2"/>
              <a:buChar char="Ø"/>
              <a:defRPr sz="2400"/>
            </a:pPr>
            <a:r>
              <a:rPr sz="3200" dirty="0">
                <a:latin typeface="Times New Roman" panose="02020603050405020304" pitchFamily="18" charset="0"/>
                <a:cs typeface="Times New Roman" panose="02020603050405020304" pitchFamily="18" charset="0"/>
              </a:rPr>
              <a:t>Input checks: missing/invalid arguments should be rejected.</a:t>
            </a:r>
          </a:p>
          <a:p>
            <a:pPr>
              <a:buFont typeface="Wingdings" panose="05000000000000000000" pitchFamily="2" charset="2"/>
              <a:buChar char="Ø"/>
              <a:defRPr sz="2400"/>
            </a:pPr>
            <a:r>
              <a:rPr lang="en-US" sz="3200" dirty="0">
                <a:latin typeface="Times New Roman" panose="02020603050405020304" pitchFamily="18" charset="0"/>
                <a:cs typeface="Times New Roman" panose="02020603050405020304" pitchFamily="18" charset="0"/>
              </a:rPr>
              <a:t>Baseline relocation (offset = 0)</a:t>
            </a:r>
            <a:r>
              <a:rPr sz="3200" dirty="0">
                <a:latin typeface="Times New Roman" panose="02020603050405020304" pitchFamily="18" charset="0"/>
                <a:cs typeface="Times New Roman" panose="02020603050405020304" pitchFamily="18" charset="0"/>
              </a:rPr>
              <a:t>: relocating to the same address should produce matching output.</a:t>
            </a:r>
          </a:p>
          <a:p>
            <a:pPr>
              <a:buFont typeface="Wingdings" panose="05000000000000000000" pitchFamily="2" charset="2"/>
              <a:buChar char="Ø"/>
              <a:defRPr sz="2400"/>
            </a:pPr>
            <a:r>
              <a:rPr lang="en-US" sz="3200" dirty="0">
                <a:latin typeface="Times New Roman" panose="02020603050405020304" pitchFamily="18" charset="0"/>
                <a:cs typeface="Times New Roman" panose="02020603050405020304" pitchFamily="18" charset="0"/>
              </a:rPr>
              <a:t>Relocation with offset (offset != 0)</a:t>
            </a:r>
            <a:r>
              <a:rPr sz="3200" dirty="0">
                <a:latin typeface="Times New Roman" panose="02020603050405020304" pitchFamily="18" charset="0"/>
                <a:cs typeface="Times New Roman" panose="02020603050405020304" pitchFamily="18" charset="0"/>
              </a:rPr>
              <a:t>: relocating to a different address should update all relocation-dependent fields.</a:t>
            </a:r>
          </a:p>
        </p:txBody>
      </p:sp>
    </p:spTree>
    <p:extLst>
      <p:ext uri="{BB962C8B-B14F-4D97-AF65-F5344CB8AC3E}">
        <p14:creationId xmlns:p14="http://schemas.microsoft.com/office/powerpoint/2010/main" val="2644551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8DDDA6-C5A6-3B56-0713-1DB1B87B3B21}"/>
              </a:ext>
            </a:extLst>
          </p:cNvPr>
          <p:cNvSpPr>
            <a:spLocks noGrp="1"/>
          </p:cNvSpPr>
          <p:nvPr>
            <p:ph type="title"/>
          </p:nvPr>
        </p:nvSpPr>
        <p:spPr>
          <a:xfrm>
            <a:off x="913795" y="438151"/>
            <a:ext cx="10353762" cy="1257300"/>
          </a:xfrm>
        </p:spPr>
        <p:txBody>
          <a:bodyPr/>
          <a:lstStyle/>
          <a:p>
            <a:r>
              <a:rPr lang="en-US" dirty="0">
                <a:latin typeface="Times New Roman" panose="02020603050405020304" pitchFamily="18" charset="0"/>
                <a:cs typeface="Times New Roman" panose="02020603050405020304" pitchFamily="18" charset="0"/>
              </a:rPr>
              <a:t>Our Solutions</a:t>
            </a:r>
          </a:p>
        </p:txBody>
      </p:sp>
      <p:sp>
        <p:nvSpPr>
          <p:cNvPr id="3" name="Content Placeholder 2">
            <a:extLst>
              <a:ext uri="{FF2B5EF4-FFF2-40B4-BE49-F238E27FC236}">
                <a16:creationId xmlns:a16="http://schemas.microsoft.com/office/drawing/2014/main" id="{9F1B4A56-386B-B421-C02D-D555376C31D7}"/>
              </a:ext>
            </a:extLst>
          </p:cNvPr>
          <p:cNvSpPr>
            <a:spLocks noGrp="1"/>
          </p:cNvSpPr>
          <p:nvPr>
            <p:ph idx="1"/>
          </p:nvPr>
        </p:nvSpPr>
        <p:spPr>
          <a:xfrm>
            <a:off x="919119" y="2090304"/>
            <a:ext cx="10353762" cy="3756314"/>
          </a:xfrm>
        </p:spPr>
        <p:txBody>
          <a:bodyPr>
            <a:normAutofit fontScale="92500" lnSpcReduction="10000"/>
          </a:bodyPr>
          <a:lstStyle/>
          <a:p>
            <a:pPr>
              <a:buFont typeface="Wingdings" panose="05000000000000000000" pitchFamily="2" charset="2"/>
              <a:buChar char="Ø"/>
              <a:defRPr sz="2400"/>
            </a:pPr>
            <a:r>
              <a:rPr lang="en-US" sz="3200" dirty="0">
                <a:latin typeface="Times New Roman" panose="02020603050405020304" pitchFamily="18" charset="0"/>
                <a:cs typeface="Times New Roman" panose="02020603050405020304" pitchFamily="18" charset="0"/>
              </a:rPr>
              <a:t>We compute a relocation offset from the new load address and apply it consistently</a:t>
            </a:r>
            <a:r>
              <a:rPr sz="3200" dirty="0">
                <a:latin typeface="Times New Roman" panose="02020603050405020304" pitchFamily="18" charset="0"/>
                <a:cs typeface="Times New Roman" panose="02020603050405020304" pitchFamily="18" charset="0"/>
              </a:rPr>
              <a:t>.</a:t>
            </a:r>
          </a:p>
          <a:p>
            <a:pPr>
              <a:buFont typeface="Wingdings" panose="05000000000000000000" pitchFamily="2" charset="2"/>
              <a:buChar char="Ø"/>
              <a:defRPr sz="2400"/>
            </a:pPr>
            <a:r>
              <a:rPr lang="en-US" sz="3200" dirty="0">
                <a:latin typeface="Times New Roman" panose="02020603050405020304" pitchFamily="18" charset="0"/>
                <a:cs typeface="Times New Roman" panose="02020603050405020304" pitchFamily="18" charset="0"/>
              </a:rPr>
              <a:t>We relocate the T/E record addresses, then apply only the M record changes that are required.</a:t>
            </a:r>
          </a:p>
          <a:p>
            <a:pPr>
              <a:buFont typeface="Wingdings" panose="05000000000000000000" pitchFamily="2" charset="2"/>
              <a:buChar char="Ø"/>
              <a:defRPr sz="2400"/>
            </a:pPr>
            <a:r>
              <a:rPr lang="en-US" sz="3200" dirty="0">
                <a:latin typeface="Times New Roman" panose="02020603050405020304" pitchFamily="18" charset="0"/>
                <a:cs typeface="Times New Roman" panose="02020603050405020304" pitchFamily="18" charset="0"/>
              </a:rPr>
              <a:t>We ensure the final relocated output is structured correctly so it can be compared across different load addresses (same program behavior).</a:t>
            </a:r>
            <a:endParaRPr sz="3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451160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BC66F1-0EDF-55ED-2C0B-96D13B2B6BFD}"/>
              </a:ext>
            </a:extLst>
          </p:cNvPr>
          <p:cNvSpPr>
            <a:spLocks noGrp="1"/>
          </p:cNvSpPr>
          <p:nvPr>
            <p:ph type="title"/>
          </p:nvPr>
        </p:nvSpPr>
        <p:spPr>
          <a:xfrm>
            <a:off x="919119" y="2369127"/>
            <a:ext cx="10353762" cy="2119746"/>
          </a:xfrm>
        </p:spPr>
        <p:txBody>
          <a:bodyPr>
            <a:normAutofit/>
          </a:bodyPr>
          <a:lstStyle/>
          <a:p>
            <a:r>
              <a:rPr lang="en-US">
                <a:latin typeface="Times New Roman" panose="02020603050405020304" pitchFamily="18" charset="0"/>
                <a:cs typeface="Times New Roman" panose="02020603050405020304" pitchFamily="18" charset="0"/>
              </a:rPr>
              <a:t>Any questions before our project demonstration?</a:t>
            </a:r>
            <a:br>
              <a:rPr lang="en-US">
                <a:latin typeface="Times New Roman" panose="02020603050405020304" pitchFamily="18" charset="0"/>
                <a:cs typeface="Times New Roman" panose="02020603050405020304" pitchFamily="18" charset="0"/>
              </a:rPr>
            </a:b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623927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VTI">
  <a:themeElements>
    <a:clrScheme name="Custom 35">
      <a:dk1>
        <a:sysClr val="windowText" lastClr="000000"/>
      </a:dk1>
      <a:lt1>
        <a:sysClr val="window" lastClr="FFFFFF"/>
      </a:lt1>
      <a:dk2>
        <a:srgbClr val="4E3B30"/>
      </a:dk2>
      <a:lt2>
        <a:srgbClr val="F4EDD8"/>
      </a:lt2>
      <a:accent1>
        <a:srgbClr val="F0A22E"/>
      </a:accent1>
      <a:accent2>
        <a:srgbClr val="A5644E"/>
      </a:accent2>
      <a:accent3>
        <a:srgbClr val="B58B80"/>
      </a:accent3>
      <a:accent4>
        <a:srgbClr val="C3986D"/>
      </a:accent4>
      <a:accent5>
        <a:srgbClr val="A19574"/>
      </a:accent5>
      <a:accent6>
        <a:srgbClr val="C17529"/>
      </a:accent6>
      <a:hlink>
        <a:srgbClr val="AD1F1F"/>
      </a:hlink>
      <a:folHlink>
        <a:srgbClr val="FFC42F"/>
      </a:folHlink>
    </a:clrScheme>
    <a:fontScheme name="Custom 4">
      <a:majorFont>
        <a:latin typeface="Goudy Old Style"/>
        <a:ea typeface=""/>
        <a:cs typeface=""/>
      </a:majorFont>
      <a:minorFont>
        <a:latin typeface="Goudy Old Style"/>
        <a:ea typeface=""/>
        <a:cs typeface=""/>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VTI" id="{35C4A07C-0176-4A32-9BCB-B016516853F0}" vid="{9B70D35C-BCA8-4715-BB49-8BE54A7FC07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Green">
    <a:dk1>
      <a:sysClr val="windowText" lastClr="000000"/>
    </a:dk1>
    <a:lt1>
      <a:sysClr val="window" lastClr="FFFFFF"/>
    </a:lt1>
    <a:dk2>
      <a:srgbClr val="455F51"/>
    </a:dk2>
    <a:lt2>
      <a:srgbClr val="E3DED1"/>
    </a:lt2>
    <a:accent1>
      <a:srgbClr val="549E39"/>
    </a:accent1>
    <a:accent2>
      <a:srgbClr val="8AB833"/>
    </a:accent2>
    <a:accent3>
      <a:srgbClr val="C0CF3A"/>
    </a:accent3>
    <a:accent4>
      <a:srgbClr val="029676"/>
    </a:accent4>
    <a:accent5>
      <a:srgbClr val="4AB5C4"/>
    </a:accent5>
    <a:accent6>
      <a:srgbClr val="0989B1"/>
    </a:accent6>
    <a:hlink>
      <a:srgbClr val="6B9F25"/>
    </a:hlink>
    <a:folHlink>
      <a:srgbClr val="BA6906"/>
    </a:folHlink>
  </a:clrScheme>
</a:themeOverride>
</file>

<file path=ppt/theme/themeOverride2.xml><?xml version="1.0" encoding="utf-8"?>
<a:themeOverride xmlns:a="http://schemas.openxmlformats.org/drawingml/2006/main">
  <a:clrScheme name="Green">
    <a:dk1>
      <a:sysClr val="windowText" lastClr="000000"/>
    </a:dk1>
    <a:lt1>
      <a:sysClr val="window" lastClr="FFFFFF"/>
    </a:lt1>
    <a:dk2>
      <a:srgbClr val="455F51"/>
    </a:dk2>
    <a:lt2>
      <a:srgbClr val="E3DED1"/>
    </a:lt2>
    <a:accent1>
      <a:srgbClr val="549E39"/>
    </a:accent1>
    <a:accent2>
      <a:srgbClr val="8AB833"/>
    </a:accent2>
    <a:accent3>
      <a:srgbClr val="C0CF3A"/>
    </a:accent3>
    <a:accent4>
      <a:srgbClr val="029676"/>
    </a:accent4>
    <a:accent5>
      <a:srgbClr val="4AB5C4"/>
    </a:accent5>
    <a:accent6>
      <a:srgbClr val="0989B1"/>
    </a:accent6>
    <a:hlink>
      <a:srgbClr val="6B9F25"/>
    </a:hlink>
    <a:folHlink>
      <a:srgbClr val="BA6906"/>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a410dd7f93c95333ffa1b60ed6adedd1">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a936d9baba76aa3866493feff160faab"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4B270AB-C138-415C-897E-3C24487DECF1}">
  <ds:schemaRefs>
    <ds:schemaRef ds:uri="http://schemas.microsoft.com/sharepoint/v3/contenttype/forms"/>
  </ds:schemaRefs>
</ds:datastoreItem>
</file>

<file path=customXml/itemProps2.xml><?xml version="1.0" encoding="utf-8"?>
<ds:datastoreItem xmlns:ds="http://schemas.openxmlformats.org/officeDocument/2006/customXml" ds:itemID="{2C4C00F4-06E9-43E3-AD97-88A857CEFA82}">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0585E981-8C91-4205-A0C3-C991F42B4C9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Quadratic collection</Template>
  <TotalTime>1474</TotalTime>
  <Words>1153</Words>
  <Application>Microsoft Office PowerPoint</Application>
  <PresentationFormat>Widescreen</PresentationFormat>
  <Paragraphs>98</Paragraphs>
  <Slides>9</Slides>
  <Notes>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Calibri</vt:lpstr>
      <vt:lpstr>Goudy Old Style</vt:lpstr>
      <vt:lpstr>Times New Roman</vt:lpstr>
      <vt:lpstr>Wingdings</vt:lpstr>
      <vt:lpstr>Wingdings 2</vt:lpstr>
      <vt:lpstr>SlateVTI</vt:lpstr>
      <vt:lpstr>Systems Programming Project 4: Relocating Loader</vt:lpstr>
      <vt:lpstr>Table of Contents </vt:lpstr>
      <vt:lpstr>Introduction</vt:lpstr>
      <vt:lpstr>Implementation </vt:lpstr>
      <vt:lpstr>Challenges</vt:lpstr>
      <vt:lpstr>Challenges Cont’d</vt:lpstr>
      <vt:lpstr>Testing</vt:lpstr>
      <vt:lpstr>Our Solutions</vt:lpstr>
      <vt:lpstr>Any questions before our project demonstration?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Shain, Zinah</dc:creator>
  <cp:lastModifiedBy>Shain, Zinah</cp:lastModifiedBy>
  <cp:revision>220</cp:revision>
  <dcterms:created xsi:type="dcterms:W3CDTF">2025-11-30T00:23:15Z</dcterms:created>
  <dcterms:modified xsi:type="dcterms:W3CDTF">2025-12-03T02:16:19Z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